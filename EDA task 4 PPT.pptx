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59" r:id="rId9"/>
    <p:sldId id="268" r:id="rId10"/>
    <p:sldId id="269" r:id="rId11"/>
    <p:sldId id="270" r:id="rId12"/>
    <p:sldId id="260" r:id="rId13"/>
    <p:sldId id="271" r:id="rId14"/>
    <p:sldId id="261" r:id="rId15"/>
    <p:sldId id="272" r:id="rId16"/>
    <p:sldId id="273" r:id="rId17"/>
    <p:sldId id="274" r:id="rId18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Slab" pitchFamily="2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80" d="100"/>
          <a:sy n="80" d="100"/>
        </p:scale>
        <p:origin x="88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937A45FD-5D89-EE7F-24C5-42D3A0CB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>
            <a:extLst>
              <a:ext uri="{FF2B5EF4-FFF2-40B4-BE49-F238E27FC236}">
                <a16:creationId xmlns:a16="http://schemas.microsoft.com/office/drawing/2014/main" id="{FE187C7F-7104-4966-4FE5-27159EB112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>
            <a:extLst>
              <a:ext uri="{FF2B5EF4-FFF2-40B4-BE49-F238E27FC236}">
                <a16:creationId xmlns:a16="http://schemas.microsoft.com/office/drawing/2014/main" id="{ADA1EA81-A256-CDFC-502D-A6A641B68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  <p:extLst>
      <p:ext uri="{BB962C8B-B14F-4D97-AF65-F5344CB8AC3E}">
        <p14:creationId xmlns:p14="http://schemas.microsoft.com/office/powerpoint/2010/main" val="505833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66015C14-DDA6-3791-37D5-E7D124A01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>
            <a:extLst>
              <a:ext uri="{FF2B5EF4-FFF2-40B4-BE49-F238E27FC236}">
                <a16:creationId xmlns:a16="http://schemas.microsoft.com/office/drawing/2014/main" id="{43EAD499-B9C6-C8C4-FD28-BDDE812282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>
            <a:extLst>
              <a:ext uri="{FF2B5EF4-FFF2-40B4-BE49-F238E27FC236}">
                <a16:creationId xmlns:a16="http://schemas.microsoft.com/office/drawing/2014/main" id="{4594394A-6930-AB66-F606-68F1501AF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  <p:extLst>
      <p:ext uri="{BB962C8B-B14F-4D97-AF65-F5344CB8AC3E}">
        <p14:creationId xmlns:p14="http://schemas.microsoft.com/office/powerpoint/2010/main" val="3159957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F91D5EAB-A446-0459-3E0B-EE9771A13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>
            <a:extLst>
              <a:ext uri="{FF2B5EF4-FFF2-40B4-BE49-F238E27FC236}">
                <a16:creationId xmlns:a16="http://schemas.microsoft.com/office/drawing/2014/main" id="{19E313F9-EA55-BACB-BBB9-D8519274CD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>
            <a:extLst>
              <a:ext uri="{FF2B5EF4-FFF2-40B4-BE49-F238E27FC236}">
                <a16:creationId xmlns:a16="http://schemas.microsoft.com/office/drawing/2014/main" id="{BB540AC9-EA63-9EC8-860B-8E189EFA3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  <p:extLst>
      <p:ext uri="{BB962C8B-B14F-4D97-AF65-F5344CB8AC3E}">
        <p14:creationId xmlns:p14="http://schemas.microsoft.com/office/powerpoint/2010/main" val="1961967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6F58ABF4-47BA-CCC8-AA6E-9D7C0708F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>
            <a:extLst>
              <a:ext uri="{FF2B5EF4-FFF2-40B4-BE49-F238E27FC236}">
                <a16:creationId xmlns:a16="http://schemas.microsoft.com/office/drawing/2014/main" id="{AD48A8E4-8161-7E67-F453-AA57DC08C5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>
            <a:extLst>
              <a:ext uri="{FF2B5EF4-FFF2-40B4-BE49-F238E27FC236}">
                <a16:creationId xmlns:a16="http://schemas.microsoft.com/office/drawing/2014/main" id="{99228AEC-5434-550D-EB3F-708DBE601A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  <p:extLst>
      <p:ext uri="{BB962C8B-B14F-4D97-AF65-F5344CB8AC3E}">
        <p14:creationId xmlns:p14="http://schemas.microsoft.com/office/powerpoint/2010/main" val="3701899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C5F8FE95-EF9F-6A74-1050-A55EC207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>
            <a:extLst>
              <a:ext uri="{FF2B5EF4-FFF2-40B4-BE49-F238E27FC236}">
                <a16:creationId xmlns:a16="http://schemas.microsoft.com/office/drawing/2014/main" id="{A2DC9937-3822-04D7-6F60-27784AD40E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>
            <a:extLst>
              <a:ext uri="{FF2B5EF4-FFF2-40B4-BE49-F238E27FC236}">
                <a16:creationId xmlns:a16="http://schemas.microsoft.com/office/drawing/2014/main" id="{68C3BF97-EF8E-9EE2-EA6F-866752C8F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  <p:extLst>
      <p:ext uri="{BB962C8B-B14F-4D97-AF65-F5344CB8AC3E}">
        <p14:creationId xmlns:p14="http://schemas.microsoft.com/office/powerpoint/2010/main" val="3440909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727A7595-1D3F-8E51-50D0-7AFEAD609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>
            <a:extLst>
              <a:ext uri="{FF2B5EF4-FFF2-40B4-BE49-F238E27FC236}">
                <a16:creationId xmlns:a16="http://schemas.microsoft.com/office/drawing/2014/main" id="{DD7ACAC5-B7E9-67E0-113E-B3D345BBA2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>
            <a:extLst>
              <a:ext uri="{FF2B5EF4-FFF2-40B4-BE49-F238E27FC236}">
                <a16:creationId xmlns:a16="http://schemas.microsoft.com/office/drawing/2014/main" id="{6784A5BF-45C2-977C-4EBD-39FEED0F42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0964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13C8F66-9E7C-1B72-10C7-484132F51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>
            <a:extLst>
              <a:ext uri="{FF2B5EF4-FFF2-40B4-BE49-F238E27FC236}">
                <a16:creationId xmlns:a16="http://schemas.microsoft.com/office/drawing/2014/main" id="{1982EFA0-C30B-0BE5-B2E0-0997212EF4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>
            <a:extLst>
              <a:ext uri="{FF2B5EF4-FFF2-40B4-BE49-F238E27FC236}">
                <a16:creationId xmlns:a16="http://schemas.microsoft.com/office/drawing/2014/main" id="{FD37525B-1886-BD43-DAEE-7A1925B3BE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2221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3E46898A-12DC-FE99-7519-0E85D15E4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>
            <a:extLst>
              <a:ext uri="{FF2B5EF4-FFF2-40B4-BE49-F238E27FC236}">
                <a16:creationId xmlns:a16="http://schemas.microsoft.com/office/drawing/2014/main" id="{7FDA8169-5C02-1F50-F743-8BBBC23073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>
            <a:extLst>
              <a:ext uri="{FF2B5EF4-FFF2-40B4-BE49-F238E27FC236}">
                <a16:creationId xmlns:a16="http://schemas.microsoft.com/office/drawing/2014/main" id="{11714C05-8F8A-A53D-F4D5-4E3F8CF5B0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3962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853DBC6-D1DD-336F-CBD5-5085E8095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>
            <a:extLst>
              <a:ext uri="{FF2B5EF4-FFF2-40B4-BE49-F238E27FC236}">
                <a16:creationId xmlns:a16="http://schemas.microsoft.com/office/drawing/2014/main" id="{8BB538C9-EE32-681A-AEA1-1151A96E2A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>
            <a:extLst>
              <a:ext uri="{FF2B5EF4-FFF2-40B4-BE49-F238E27FC236}">
                <a16:creationId xmlns:a16="http://schemas.microsoft.com/office/drawing/2014/main" id="{BE703E1B-A3D0-FA6C-DD66-784D8BB249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  <p:extLst>
      <p:ext uri="{BB962C8B-B14F-4D97-AF65-F5344CB8AC3E}">
        <p14:creationId xmlns:p14="http://schemas.microsoft.com/office/powerpoint/2010/main" val="3947945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792D3DEB-34A7-0255-108A-5E014B50A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>
            <a:extLst>
              <a:ext uri="{FF2B5EF4-FFF2-40B4-BE49-F238E27FC236}">
                <a16:creationId xmlns:a16="http://schemas.microsoft.com/office/drawing/2014/main" id="{2E57AAB8-AF82-DF3C-E7C2-EB3FD0BF6A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>
            <a:extLst>
              <a:ext uri="{FF2B5EF4-FFF2-40B4-BE49-F238E27FC236}">
                <a16:creationId xmlns:a16="http://schemas.microsoft.com/office/drawing/2014/main" id="{4EF136EC-E57E-14B2-2CAE-03E7DCE176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  <p:extLst>
      <p:ext uri="{BB962C8B-B14F-4D97-AF65-F5344CB8AC3E}">
        <p14:creationId xmlns:p14="http://schemas.microsoft.com/office/powerpoint/2010/main" val="616967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D4C97268-640F-207A-4BE4-8AC86C8A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>
            <a:extLst>
              <a:ext uri="{FF2B5EF4-FFF2-40B4-BE49-F238E27FC236}">
                <a16:creationId xmlns:a16="http://schemas.microsoft.com/office/drawing/2014/main" id="{4CB3BABC-D397-70AB-8AD8-4EEB32EE0E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>
            <a:extLst>
              <a:ext uri="{FF2B5EF4-FFF2-40B4-BE49-F238E27FC236}">
                <a16:creationId xmlns:a16="http://schemas.microsoft.com/office/drawing/2014/main" id="{E17DE056-A397-52AB-B9DA-63E316A38F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871585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796995"/>
            <a:ext cx="5783400" cy="8493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tx1"/>
                </a:solidFill>
                <a:latin typeface="Arial Black" panose="020B0A04020102020204" pitchFamily="34" charset="0"/>
              </a:rPr>
              <a:t>AI-Powered Collections Strategy</a:t>
            </a:r>
            <a:endParaRPr sz="3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Arial Black" panose="020B0A04020102020204" pitchFamily="34" charset="0"/>
              </a:rPr>
              <a:t>Leveraging Agentic AI for Scalable, Fair, and Effective Debt Management at Geldium</a:t>
            </a:r>
            <a:endParaRPr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190500"/>
            <a:ext cx="8368200" cy="7369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How the System Works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879600"/>
            <a:ext cx="8368200" cy="9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1. Workflow Outline:</a:t>
            </a:r>
          </a:p>
          <a:p>
            <a:r>
              <a:rPr lang="en-US" b="1" dirty="0">
                <a:latin typeface="Arial Black" panose="020B0A04020102020204" pitchFamily="34" charset="0"/>
              </a:rPr>
              <a:t>Inputs → Analysis → Risk Scoring → Action Triggers → Learning Loop</a:t>
            </a:r>
            <a:endParaRPr lang="en-US" dirty="0">
              <a:latin typeface="Arial Black" panose="020B0A04020102020204" pitchFamily="34" charset="0"/>
            </a:endParaRPr>
          </a:p>
          <a:p>
            <a:pPr marL="114300" indent="0">
              <a:buNone/>
            </a:pPr>
            <a:endParaRPr lang="en-GB" sz="16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E6201329-6C8C-583D-A1E7-11B1C4F46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27E884EC-D2A8-72A6-3F29-A9F9B11AD7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222637"/>
            <a:ext cx="8368200" cy="7048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How the System Works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94797CC8-A3C4-C384-DAF7-6C28288E0E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359673"/>
            <a:ext cx="8368200" cy="35611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1400" b="1" dirty="0">
                <a:latin typeface="Arial Black" panose="020B0A04020102020204" pitchFamily="34" charset="0"/>
              </a:rPr>
              <a:t>Data Intake</a:t>
            </a:r>
          </a:p>
          <a:p>
            <a:pPr lvl="1" algn="just">
              <a:lnSpc>
                <a:spcPct val="100000"/>
              </a:lnSpc>
            </a:pPr>
            <a:r>
              <a:rPr lang="en-US" b="1" dirty="0">
                <a:latin typeface="Arial Black" panose="020B0A04020102020204" pitchFamily="34" charset="0"/>
              </a:rPr>
              <a:t>Pull in customer data (financial history, behavior, credit profile, payment trends)</a:t>
            </a:r>
          </a:p>
          <a:p>
            <a:pPr algn="just">
              <a:lnSpc>
                <a:spcPct val="100000"/>
              </a:lnSpc>
            </a:pPr>
            <a:r>
              <a:rPr lang="en-US" sz="1400" b="1" dirty="0">
                <a:latin typeface="Arial Black" panose="020B0A04020102020204" pitchFamily="34" charset="0"/>
              </a:rPr>
              <a:t>Feature Engineering</a:t>
            </a:r>
          </a:p>
          <a:p>
            <a:pPr lvl="1" algn="just">
              <a:lnSpc>
                <a:spcPct val="100000"/>
              </a:lnSpc>
            </a:pPr>
            <a:r>
              <a:rPr lang="en-US" b="1" dirty="0">
                <a:latin typeface="Arial Black" panose="020B0A04020102020204" pitchFamily="34" charset="0"/>
              </a:rPr>
              <a:t>Calculate engineered variables (e.g., missed payments trend, risk score)</a:t>
            </a:r>
          </a:p>
          <a:p>
            <a:pPr algn="just">
              <a:lnSpc>
                <a:spcPct val="100000"/>
              </a:lnSpc>
            </a:pPr>
            <a:r>
              <a:rPr lang="en-US" sz="1400" b="1" dirty="0">
                <a:latin typeface="Arial Black" panose="020B0A04020102020204" pitchFamily="34" charset="0"/>
              </a:rPr>
              <a:t>Risk Classification</a:t>
            </a:r>
          </a:p>
          <a:p>
            <a:pPr lvl="1" algn="just">
              <a:lnSpc>
                <a:spcPct val="100000"/>
              </a:lnSpc>
            </a:pPr>
            <a:r>
              <a:rPr lang="en-US" b="1" dirty="0">
                <a:latin typeface="Arial Black" panose="020B0A04020102020204" pitchFamily="34" charset="0"/>
              </a:rPr>
              <a:t>Apply trained AI model (Random Forest) to predict delinquency probability</a:t>
            </a:r>
          </a:p>
          <a:p>
            <a:pPr algn="just">
              <a:lnSpc>
                <a:spcPct val="100000"/>
              </a:lnSpc>
            </a:pPr>
            <a:r>
              <a:rPr lang="en-US" sz="1400" b="1" dirty="0">
                <a:latin typeface="Arial Black" panose="020B0A04020102020204" pitchFamily="34" charset="0"/>
              </a:rPr>
              <a:t>Risk Tier Assignment</a:t>
            </a:r>
          </a:p>
          <a:p>
            <a:pPr lvl="1" algn="just">
              <a:lnSpc>
                <a:spcPct val="100000"/>
              </a:lnSpc>
            </a:pPr>
            <a:r>
              <a:rPr lang="en-US" b="1" dirty="0">
                <a:latin typeface="Arial Black" panose="020B0A04020102020204" pitchFamily="34" charset="0"/>
              </a:rPr>
              <a:t>Customers are segmented into Low, Medium, or High Risk</a:t>
            </a:r>
          </a:p>
          <a:p>
            <a:pPr algn="just">
              <a:lnSpc>
                <a:spcPct val="100000"/>
              </a:lnSpc>
            </a:pPr>
            <a:r>
              <a:rPr lang="en-US" sz="1400" b="1" dirty="0">
                <a:latin typeface="Arial Black" panose="020B0A04020102020204" pitchFamily="34" charset="0"/>
              </a:rPr>
              <a:t>Action Trigger</a:t>
            </a:r>
          </a:p>
          <a:p>
            <a:pPr lvl="1" algn="just">
              <a:lnSpc>
                <a:spcPct val="100000"/>
              </a:lnSpc>
            </a:pPr>
            <a:r>
              <a:rPr lang="en-US" b="1" dirty="0">
                <a:latin typeface="Arial Black" panose="020B0A04020102020204" pitchFamily="34" charset="0"/>
              </a:rPr>
              <a:t>Based on risk level, tailored collection strategies are deployed</a:t>
            </a:r>
          </a:p>
          <a:p>
            <a:pPr algn="just">
              <a:lnSpc>
                <a:spcPct val="100000"/>
              </a:lnSpc>
            </a:pPr>
            <a:r>
              <a:rPr lang="en-US" sz="1400" b="1" dirty="0">
                <a:latin typeface="Arial Black" panose="020B0A04020102020204" pitchFamily="34" charset="0"/>
              </a:rPr>
              <a:t>Learning Loop</a:t>
            </a:r>
          </a:p>
          <a:p>
            <a:pPr lvl="1" algn="just">
              <a:lnSpc>
                <a:spcPct val="100000"/>
              </a:lnSpc>
            </a:pPr>
            <a:r>
              <a:rPr lang="en-US" b="1" dirty="0">
                <a:latin typeface="Arial Black" panose="020B0A04020102020204" pitchFamily="34" charset="0"/>
              </a:rPr>
              <a:t>System captures outcome of each action (e.g., repayment, default)</a:t>
            </a:r>
          </a:p>
          <a:p>
            <a:pPr lvl="1" algn="just">
              <a:lnSpc>
                <a:spcPct val="100000"/>
              </a:lnSpc>
            </a:pPr>
            <a:r>
              <a:rPr lang="en-US" b="1" dirty="0">
                <a:latin typeface="Arial Black" panose="020B0A04020102020204" pitchFamily="34" charset="0"/>
              </a:rPr>
              <a:t>Retrains model periodically for improved accuracy and fairness</a:t>
            </a:r>
          </a:p>
          <a:p>
            <a:pPr marL="114300" indent="0">
              <a:buNone/>
            </a:pPr>
            <a:endParaRPr lang="en-GB" sz="1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946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E82D61E5-28D2-2265-79B1-3590B002A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B391AB81-4663-C7F9-D54A-0C4C036513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222637"/>
            <a:ext cx="8368200" cy="7048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How the System Works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D28BA34B-3491-49BB-A1A8-A430C65876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359673"/>
            <a:ext cx="8368200" cy="483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Key Predictive Customer Attributes:</a:t>
            </a:r>
            <a:endParaRPr lang="en-GB" sz="1600" dirty="0">
              <a:latin typeface="Arial Black" panose="020B0A040201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C8E1E9-CD9F-93A0-0E6F-A62F2E246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875023"/>
              </p:ext>
            </p:extLst>
          </p:nvPr>
        </p:nvGraphicFramePr>
        <p:xfrm>
          <a:off x="381663" y="1842881"/>
          <a:ext cx="8574933" cy="2865120"/>
        </p:xfrm>
        <a:graphic>
          <a:graphicData uri="http://schemas.openxmlformats.org/drawingml/2006/table">
            <a:tbl>
              <a:tblPr firstRow="1" firstCol="1">
                <a:tableStyleId>{ED083AE6-46FA-4A59-8FB0-9F97EB10719F}</a:tableStyleId>
              </a:tblPr>
              <a:tblGrid>
                <a:gridCol w="3967700">
                  <a:extLst>
                    <a:ext uri="{9D8B030D-6E8A-4147-A177-3AD203B41FA5}">
                      <a16:colId xmlns:a16="http://schemas.microsoft.com/office/drawing/2014/main" val="961856224"/>
                    </a:ext>
                  </a:extLst>
                </a:gridCol>
                <a:gridCol w="4607233">
                  <a:extLst>
                    <a:ext uri="{9D8B030D-6E8A-4147-A177-3AD203B41FA5}">
                      <a16:colId xmlns:a16="http://schemas.microsoft.com/office/drawing/2014/main" val="24426387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Why It Matters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158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 err="1">
                          <a:latin typeface="Arial Black" panose="020B0A04020102020204" pitchFamily="34" charset="0"/>
                        </a:rPr>
                        <a:t>Missed_Payments</a:t>
                      </a:r>
                      <a:endParaRPr lang="en-IN" b="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Complex non-linear behavior; strong delinquency signal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6769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 err="1">
                          <a:latin typeface="Arial Black" panose="020B0A04020102020204" pitchFamily="34" charset="0"/>
                        </a:rPr>
                        <a:t>Employment_Status</a:t>
                      </a:r>
                      <a:endParaRPr lang="en-IN" b="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 Black" panose="020B0A04020102020204" pitchFamily="34" charset="0"/>
                        </a:rPr>
                        <a:t>'Unemployed' = higher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870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 err="1">
                          <a:latin typeface="Arial Black" panose="020B0A04020102020204" pitchFamily="34" charset="0"/>
                        </a:rPr>
                        <a:t>Credit_Card_Type</a:t>
                      </a:r>
                      <a:endParaRPr lang="en-IN" b="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 Black" panose="020B0A04020102020204" pitchFamily="34" charset="0"/>
                        </a:rPr>
                        <a:t>'Business' card = highest delinquency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017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 err="1">
                          <a:latin typeface="Arial Black" panose="020B0A04020102020204" pitchFamily="34" charset="0"/>
                        </a:rPr>
                        <a:t>Debt_to_Income_Ratio</a:t>
                      </a:r>
                      <a:endParaRPr lang="en-IN" b="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 Black" panose="020B0A04020102020204" pitchFamily="34" charset="0"/>
                        </a:rPr>
                        <a:t>Indicates credit stress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711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 err="1">
                          <a:latin typeface="Arial Black" panose="020B0A04020102020204" pitchFamily="34" charset="0"/>
                        </a:rPr>
                        <a:t>Credit_Utilization</a:t>
                      </a:r>
                      <a:endParaRPr lang="en-IN" b="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 Black" panose="020B0A04020102020204" pitchFamily="34" charset="0"/>
                        </a:rPr>
                        <a:t>Weakly correlated, but meaningful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101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 Black" panose="020B0A04020102020204" pitchFamily="34" charset="0"/>
                        </a:rPr>
                        <a:t>Credit_Score, Income, </a:t>
                      </a:r>
                      <a:r>
                        <a:rPr lang="en-US" b="0" dirty="0" err="1">
                          <a:latin typeface="Arial Black" panose="020B0A04020102020204" pitchFamily="34" charset="0"/>
                        </a:rPr>
                        <a:t>Loan_Balance</a:t>
                      </a:r>
                      <a:r>
                        <a:rPr lang="en-US" b="0" dirty="0">
                          <a:latin typeface="Arial Black" panose="020B0A04020102020204" pitchFamily="34" charset="0"/>
                        </a:rPr>
                        <a:t>, Location, </a:t>
                      </a:r>
                      <a:r>
                        <a:rPr lang="en-US" b="0" dirty="0" err="1">
                          <a:latin typeface="Arial Black" panose="020B0A04020102020204" pitchFamily="34" charset="0"/>
                        </a:rPr>
                        <a:t>Account_Tenure</a:t>
                      </a:r>
                      <a:endParaRPr lang="en-US" b="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All contribute to financial profile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5933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 Black" panose="020B0A04020102020204" pitchFamily="34" charset="0"/>
                        </a:rPr>
                        <a:t>Month_1 to Month_6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Used to engineer temporal risk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967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712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6CC8C36A-FD29-C8A1-A939-F9994788A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979A14BB-DB82-A9D6-4521-1BADAA1DFF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222637"/>
            <a:ext cx="8368200" cy="7048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How the System Works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6A800443-1E95-8388-245C-8EEB511B6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359673"/>
            <a:ext cx="8368200" cy="4832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just">
              <a:buNone/>
            </a:pPr>
            <a:r>
              <a:rPr lang="en-US" sz="1600" dirty="0">
                <a:latin typeface="Arial Black" panose="020B0A04020102020204" pitchFamily="34" charset="0"/>
              </a:rPr>
              <a:t>Decision Logic &amp; AI-Driven Actions by Risk Tier:</a:t>
            </a:r>
            <a:endParaRPr lang="en-GB" sz="1600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40DADC-52C8-7589-DC9B-3B23B6480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071130"/>
              </p:ext>
            </p:extLst>
          </p:nvPr>
        </p:nvGraphicFramePr>
        <p:xfrm>
          <a:off x="387350" y="2099310"/>
          <a:ext cx="8369301" cy="22860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789767">
                  <a:extLst>
                    <a:ext uri="{9D8B030D-6E8A-4147-A177-3AD203B41FA5}">
                      <a16:colId xmlns:a16="http://schemas.microsoft.com/office/drawing/2014/main" val="2016981976"/>
                    </a:ext>
                  </a:extLst>
                </a:gridCol>
                <a:gridCol w="2789767">
                  <a:extLst>
                    <a:ext uri="{9D8B030D-6E8A-4147-A177-3AD203B41FA5}">
                      <a16:colId xmlns:a16="http://schemas.microsoft.com/office/drawing/2014/main" val="3535711615"/>
                    </a:ext>
                  </a:extLst>
                </a:gridCol>
                <a:gridCol w="2789767">
                  <a:extLst>
                    <a:ext uri="{9D8B030D-6E8A-4147-A177-3AD203B41FA5}">
                      <a16:colId xmlns:a16="http://schemas.microsoft.com/office/drawing/2014/main" val="329537467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Arial Black" panose="020B0A04020102020204" pitchFamily="34" charset="0"/>
                        </a:rPr>
                        <a:t>Risk Level</a:t>
                      </a:r>
                      <a:endParaRPr lang="en-IN" sz="140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rial Black" panose="020B0A04020102020204" pitchFamily="34" charset="0"/>
                        </a:rPr>
                        <a:t>Business Rule</a:t>
                      </a:r>
                      <a:endParaRPr lang="en-IN" sz="140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rial Black" panose="020B0A04020102020204" pitchFamily="34" charset="0"/>
                        </a:rPr>
                        <a:t>AI Action</a:t>
                      </a:r>
                      <a:endParaRPr lang="en-IN" sz="140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569216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rial Black" panose="020B0A04020102020204" pitchFamily="34" charset="0"/>
                        </a:rPr>
                        <a:t>Low Risk</a:t>
                      </a:r>
                      <a:endParaRPr lang="en-IN" sz="140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 Black" panose="020B0A04020102020204" pitchFamily="34" charset="0"/>
                        </a:rPr>
                        <a:t>No missed payments, low utilization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 Black" panose="020B0A04020102020204" pitchFamily="34" charset="0"/>
                        </a:rPr>
                        <a:t>Send friendly reminders via email/SMS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660019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rial Black" panose="020B0A04020102020204" pitchFamily="34" charset="0"/>
                        </a:rPr>
                        <a:t>Medium Risk</a:t>
                      </a:r>
                      <a:endParaRPr lang="en-IN" sz="140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 Black" panose="020B0A04020102020204" pitchFamily="34" charset="0"/>
                        </a:rPr>
                        <a:t>Some late payments, rising credit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 Black" panose="020B0A04020102020204" pitchFamily="34" charset="0"/>
                        </a:rPr>
                        <a:t>Personalized payment plan suggestions; in-app nudges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66836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rial Black" panose="020B0A04020102020204" pitchFamily="34" charset="0"/>
                        </a:rPr>
                        <a:t>High Risk</a:t>
                      </a:r>
                      <a:endParaRPr lang="en-IN" sz="140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 Black" panose="020B0A04020102020204" pitchFamily="34" charset="0"/>
                        </a:rPr>
                        <a:t>Missed payments + unemployment or high debt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Black" panose="020B0A04020102020204" pitchFamily="34" charset="0"/>
                        </a:rPr>
                        <a:t>Human agent contact + AI-prioritized escalation workflow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253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8063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2BEEF8E7-03E5-7644-4A5D-BDFFF6EF6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10614C13-11C1-E208-E290-01FB5EA67B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190500"/>
            <a:ext cx="8368200" cy="7369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How the System Works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5CE4F5E4-599A-96A4-7B72-DBC629E5BB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359673"/>
            <a:ext cx="8368200" cy="37838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latin typeface="Arial Black" panose="020B0A04020102020204" pitchFamily="34" charset="0"/>
              </a:rPr>
              <a:t>Data Flow – Step-by-Step (Customer Journey):</a:t>
            </a:r>
          </a:p>
          <a:p>
            <a:r>
              <a:rPr lang="en-US" sz="1400" b="1" dirty="0">
                <a:latin typeface="Arial Black" panose="020B0A04020102020204" pitchFamily="34" charset="0"/>
              </a:rPr>
              <a:t>Customer Data Intake</a:t>
            </a:r>
            <a:endParaRPr lang="en-US" sz="1400" dirty="0">
              <a:latin typeface="Arial Black" panose="020B0A04020102020204" pitchFamily="34" charset="0"/>
            </a:endParaRPr>
          </a:p>
          <a:p>
            <a:pPr lvl="1"/>
            <a:r>
              <a:rPr lang="en-US" dirty="0">
                <a:latin typeface="Arial Black" panose="020B0A04020102020204" pitchFamily="34" charset="0"/>
              </a:rPr>
              <a:t>Real-time or batch feed from CRM/core system</a:t>
            </a:r>
          </a:p>
          <a:p>
            <a:r>
              <a:rPr lang="en-US" sz="1400" b="1" dirty="0">
                <a:latin typeface="Arial Black" panose="020B0A04020102020204" pitchFamily="34" charset="0"/>
              </a:rPr>
              <a:t>Model Scoring</a:t>
            </a:r>
            <a:endParaRPr lang="en-US" sz="1400" dirty="0">
              <a:latin typeface="Arial Black" panose="020B0A04020102020204" pitchFamily="34" charset="0"/>
            </a:endParaRPr>
          </a:p>
          <a:p>
            <a:pPr lvl="1"/>
            <a:r>
              <a:rPr lang="en-US" dirty="0">
                <a:latin typeface="Arial Black" panose="020B0A04020102020204" pitchFamily="34" charset="0"/>
              </a:rPr>
              <a:t>AI model evaluates risk of delinquency</a:t>
            </a:r>
          </a:p>
          <a:p>
            <a:r>
              <a:rPr lang="en-US" sz="1400" b="1" dirty="0">
                <a:latin typeface="Arial Black" panose="020B0A04020102020204" pitchFamily="34" charset="0"/>
              </a:rPr>
              <a:t>Risk Segmentation</a:t>
            </a:r>
            <a:endParaRPr lang="en-US" sz="1400" dirty="0">
              <a:latin typeface="Arial Black" panose="020B0A04020102020204" pitchFamily="34" charset="0"/>
            </a:endParaRPr>
          </a:p>
          <a:p>
            <a:pPr lvl="1"/>
            <a:r>
              <a:rPr lang="en-US" dirty="0">
                <a:latin typeface="Arial Black" panose="020B0A04020102020204" pitchFamily="34" charset="0"/>
              </a:rPr>
              <a:t>Customer is classified into a risk category</a:t>
            </a:r>
          </a:p>
          <a:p>
            <a:r>
              <a:rPr lang="en-US" sz="1400" b="1" dirty="0">
                <a:latin typeface="Arial Black" panose="020B0A04020102020204" pitchFamily="34" charset="0"/>
              </a:rPr>
              <a:t>Action Assignment</a:t>
            </a:r>
            <a:endParaRPr lang="en-US" sz="1400" dirty="0">
              <a:latin typeface="Arial Black" panose="020B0A04020102020204" pitchFamily="34" charset="0"/>
            </a:endParaRPr>
          </a:p>
          <a:p>
            <a:pPr lvl="1"/>
            <a:r>
              <a:rPr lang="en-US" dirty="0">
                <a:latin typeface="Arial Black" panose="020B0A04020102020204" pitchFamily="34" charset="0"/>
              </a:rPr>
              <a:t>Business logic + AI determine best-fit intervention</a:t>
            </a:r>
          </a:p>
          <a:p>
            <a:r>
              <a:rPr lang="en-US" sz="1400" b="1" dirty="0">
                <a:latin typeface="Arial Black" panose="020B0A04020102020204" pitchFamily="34" charset="0"/>
              </a:rPr>
              <a:t>Action Execution</a:t>
            </a:r>
            <a:endParaRPr lang="en-US" sz="1400" dirty="0">
              <a:latin typeface="Arial Black" panose="020B0A04020102020204" pitchFamily="34" charset="0"/>
            </a:endParaRPr>
          </a:p>
          <a:p>
            <a:pPr lvl="1"/>
            <a:r>
              <a:rPr lang="en-US" dirty="0">
                <a:latin typeface="Arial Black" panose="020B0A04020102020204" pitchFamily="34" charset="0"/>
              </a:rPr>
              <a:t>Automated message sent or case assigned to collections team</a:t>
            </a:r>
          </a:p>
          <a:p>
            <a:r>
              <a:rPr lang="en-US" sz="1400" b="1" dirty="0">
                <a:latin typeface="Arial Black" panose="020B0A04020102020204" pitchFamily="34" charset="0"/>
              </a:rPr>
              <a:t>Outcome Monitoring</a:t>
            </a:r>
            <a:endParaRPr lang="en-US" sz="1400" dirty="0">
              <a:latin typeface="Arial Black" panose="020B0A04020102020204" pitchFamily="34" charset="0"/>
            </a:endParaRPr>
          </a:p>
          <a:p>
            <a:pPr lvl="1"/>
            <a:r>
              <a:rPr lang="en-US" dirty="0">
                <a:latin typeface="Arial Black" panose="020B0A04020102020204" pitchFamily="34" charset="0"/>
              </a:rPr>
              <a:t>Payment status tracked</a:t>
            </a:r>
          </a:p>
          <a:p>
            <a:r>
              <a:rPr lang="en-US" sz="1400" b="1" dirty="0">
                <a:latin typeface="Arial Black" panose="020B0A04020102020204" pitchFamily="34" charset="0"/>
              </a:rPr>
              <a:t>Feedback Loop</a:t>
            </a:r>
            <a:endParaRPr lang="en-US" sz="1400" dirty="0">
              <a:latin typeface="Arial Black" panose="020B0A04020102020204" pitchFamily="34" charset="0"/>
            </a:endParaRPr>
          </a:p>
          <a:p>
            <a:pPr lvl="1"/>
            <a:r>
              <a:rPr lang="en-US" dirty="0">
                <a:latin typeface="Arial Black" panose="020B0A04020102020204" pitchFamily="34" charset="0"/>
              </a:rPr>
              <a:t>Outcome used to retrain model quarterly (active learning)</a:t>
            </a:r>
          </a:p>
          <a:p>
            <a:pPr marL="114300" indent="0">
              <a:buNone/>
            </a:pPr>
            <a:endParaRPr lang="en-GB" sz="1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30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165B23F4-8F83-3246-13C7-76C1B71E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EEFE4FA5-2724-051A-1870-097A23EB40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899" y="103036"/>
            <a:ext cx="8368200" cy="7369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How the System Works</a:t>
            </a:r>
            <a:endParaRPr sz="2800" dirty="0"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C2A2F5-37F6-5C67-AFA6-AB92262CB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183" y="1097279"/>
            <a:ext cx="5445633" cy="378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39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206734"/>
            <a:ext cx="8368200" cy="4691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Role of Agentic AI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899" y="675861"/>
            <a:ext cx="8628879" cy="16591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just">
              <a:buNone/>
            </a:pPr>
            <a:r>
              <a:rPr lang="en-US" sz="1400" b="1" dirty="0">
                <a:latin typeface="Arial Black" panose="020B0A04020102020204" pitchFamily="34" charset="0"/>
              </a:rPr>
              <a:t>Balanced Automation with Human Oversight :</a:t>
            </a:r>
          </a:p>
          <a:p>
            <a:pPr marL="114300" indent="0" algn="just">
              <a:buNone/>
            </a:pPr>
            <a:r>
              <a:rPr lang="en-US" sz="1400" dirty="0">
                <a:latin typeface="Arial Black" panose="020B0A04020102020204" pitchFamily="34" charset="0"/>
              </a:rPr>
              <a:t>Agentic AI enables the system to operate with a degree of autonomy, especially in </a:t>
            </a:r>
            <a:r>
              <a:rPr lang="en-US" sz="1400" b="1" dirty="0">
                <a:latin typeface="Arial Black" panose="020B0A04020102020204" pitchFamily="34" charset="0"/>
              </a:rPr>
              <a:t>routine and scalable actions</a:t>
            </a:r>
            <a:r>
              <a:rPr lang="en-US" sz="1400" dirty="0">
                <a:latin typeface="Arial Black" panose="020B0A04020102020204" pitchFamily="34" charset="0"/>
              </a:rPr>
              <a:t>. However, </a:t>
            </a:r>
            <a:r>
              <a:rPr lang="en-US" sz="1400" b="1" dirty="0">
                <a:latin typeface="Arial Black" panose="020B0A04020102020204" pitchFamily="34" charset="0"/>
              </a:rPr>
              <a:t>critical, high-impact decisions</a:t>
            </a:r>
            <a:r>
              <a:rPr lang="en-US" sz="1400" dirty="0">
                <a:latin typeface="Arial Black" panose="020B0A04020102020204" pitchFamily="34" charset="0"/>
              </a:rPr>
              <a:t> (like hardship negotiations) are escalated to humans to ensure empathy, ethical handling, and fairness.</a:t>
            </a:r>
          </a:p>
          <a:p>
            <a:pPr marL="114300" indent="0" algn="just">
              <a:buNone/>
            </a:pPr>
            <a:r>
              <a:rPr lang="en-US" sz="1400" dirty="0">
                <a:latin typeface="Arial Black" panose="020B0A04020102020204" pitchFamily="34" charset="0"/>
              </a:rPr>
              <a:t>Autonomous vs. Human Oversight – Example Table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A5FB53-47F9-E848-4D59-CD3EA81BF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803766"/>
              </p:ext>
            </p:extLst>
          </p:nvPr>
        </p:nvGraphicFramePr>
        <p:xfrm>
          <a:off x="386800" y="2335030"/>
          <a:ext cx="8558417" cy="262028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84650">
                  <a:extLst>
                    <a:ext uri="{9D8B030D-6E8A-4147-A177-3AD203B41FA5}">
                      <a16:colId xmlns:a16="http://schemas.microsoft.com/office/drawing/2014/main" val="1891007626"/>
                    </a:ext>
                  </a:extLst>
                </a:gridCol>
                <a:gridCol w="4373767">
                  <a:extLst>
                    <a:ext uri="{9D8B030D-6E8A-4147-A177-3AD203B41FA5}">
                      <a16:colId xmlns:a16="http://schemas.microsoft.com/office/drawing/2014/main" val="1963880295"/>
                    </a:ext>
                  </a:extLst>
                </a:gridCol>
              </a:tblGrid>
              <a:tr h="268357">
                <a:tc>
                  <a:txBody>
                    <a:bodyPr/>
                    <a:lstStyle/>
                    <a:p>
                      <a:r>
                        <a:rPr lang="en-IN" b="1" dirty="0"/>
                        <a:t>Autonomous Actions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Human Oversight Required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588327"/>
                  </a:ext>
                </a:extLst>
              </a:tr>
              <a:tr h="456205">
                <a:tc>
                  <a:txBody>
                    <a:bodyPr/>
                    <a:lstStyle/>
                    <a:p>
                      <a:r>
                        <a:rPr lang="en-US"/>
                        <a:t>Send friendly reminder emails/SMS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Approving/negotiating personalized hardship payment plans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2701466"/>
                  </a:ext>
                </a:extLst>
              </a:tr>
              <a:tr h="456205">
                <a:tc>
                  <a:txBody>
                    <a:bodyPr/>
                    <a:lstStyle/>
                    <a:p>
                      <a:r>
                        <a:rPr lang="en-US"/>
                        <a:t>Auto-classify customers by risk tier (Low/Medium/High)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Escalating chronic delinquents to legal/recovery departments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728417"/>
                  </a:ext>
                </a:extLst>
              </a:tr>
              <a:tr h="456205">
                <a:tc>
                  <a:txBody>
                    <a:bodyPr/>
                    <a:lstStyle/>
                    <a:p>
                      <a:r>
                        <a:rPr lang="en-IN"/>
                        <a:t>Schedule follow-up reminders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Handling customer disputes or special circumstances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0239901"/>
                  </a:ext>
                </a:extLst>
              </a:tr>
              <a:tr h="456205">
                <a:tc>
                  <a:txBody>
                    <a:bodyPr/>
                    <a:lstStyle/>
                    <a:p>
                      <a:r>
                        <a:rPr lang="en-US"/>
                        <a:t>Offer pre-approved standard payment plans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Overriding system decisions in case of error or flagged anomalies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04767"/>
                  </a:ext>
                </a:extLst>
              </a:tr>
              <a:tr h="268357">
                <a:tc>
                  <a:txBody>
                    <a:bodyPr/>
                    <a:lstStyle/>
                    <a:p>
                      <a:r>
                        <a:rPr lang="en-IN"/>
                        <a:t>Monitor model performance and retrain periodically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review of high-risk segment 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4744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3641B72D-B78D-29CE-9DFA-BE7CACE9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6B02FE4B-93E6-6E5A-20A6-355001CB7B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206734"/>
            <a:ext cx="8368200" cy="4691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Role of Agentic AI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4" name="Google Shape;82;p16">
            <a:extLst>
              <a:ext uri="{FF2B5EF4-FFF2-40B4-BE49-F238E27FC236}">
                <a16:creationId xmlns:a16="http://schemas.microsoft.com/office/drawing/2014/main" id="{63C134F5-2700-68A1-45F3-8B4AEC88B5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899" y="1463039"/>
            <a:ext cx="8628879" cy="1350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just">
              <a:buNone/>
            </a:pPr>
            <a:r>
              <a:rPr lang="en-US" sz="1400" b="1" dirty="0">
                <a:latin typeface="Arial Black" panose="020B0A04020102020204" pitchFamily="34" charset="0"/>
              </a:rPr>
              <a:t>How Agentic AI Enables Smart Automation:</a:t>
            </a:r>
          </a:p>
          <a:p>
            <a:pPr marL="114300" indent="0" algn="just">
              <a:buNone/>
            </a:pPr>
            <a:r>
              <a:rPr lang="en-US" sz="1400" dirty="0">
                <a:latin typeface="Arial Black" panose="020B0A04020102020204" pitchFamily="34" charset="0"/>
              </a:rPr>
              <a:t>Uses historical and real-time data to </a:t>
            </a:r>
            <a:r>
              <a:rPr lang="en-US" sz="1400" b="1" dirty="0">
                <a:latin typeface="Arial Black" panose="020B0A04020102020204" pitchFamily="34" charset="0"/>
              </a:rPr>
              <a:t>automate decisions</a:t>
            </a:r>
            <a:r>
              <a:rPr lang="en-US" sz="1400" dirty="0">
                <a:latin typeface="Arial Black" panose="020B0A04020102020204" pitchFamily="34" charset="0"/>
              </a:rPr>
              <a:t> like messaging and timing.</a:t>
            </a:r>
          </a:p>
          <a:p>
            <a:pPr marL="114300" indent="0" algn="just">
              <a:buNone/>
            </a:pPr>
            <a:r>
              <a:rPr lang="en-US" sz="1400" dirty="0">
                <a:latin typeface="Arial Black" panose="020B0A04020102020204" pitchFamily="34" charset="0"/>
              </a:rPr>
              <a:t>Operates independently in </a:t>
            </a:r>
            <a:r>
              <a:rPr lang="en-US" sz="1400" b="1" dirty="0">
                <a:latin typeface="Arial Black" panose="020B0A04020102020204" pitchFamily="34" charset="0"/>
              </a:rPr>
              <a:t>low-impact scenarios</a:t>
            </a:r>
            <a:r>
              <a:rPr lang="en-US" sz="1400" dirty="0">
                <a:latin typeface="Arial Black" panose="020B0A04020102020204" pitchFamily="34" charset="0"/>
              </a:rPr>
              <a:t> (e.g., payment nudges).</a:t>
            </a:r>
          </a:p>
          <a:p>
            <a:pPr marL="114300" indent="0" algn="just">
              <a:buNone/>
            </a:pPr>
            <a:r>
              <a:rPr lang="en-US" sz="1400" dirty="0">
                <a:latin typeface="Arial Black" panose="020B0A04020102020204" pitchFamily="34" charset="0"/>
              </a:rPr>
              <a:t>Flags edge cases and </a:t>
            </a:r>
            <a:r>
              <a:rPr lang="en-US" sz="1400" b="1" dirty="0">
                <a:latin typeface="Arial Black" panose="020B0A04020102020204" pitchFamily="34" charset="0"/>
              </a:rPr>
              <a:t>hands off to humans</a:t>
            </a:r>
            <a:r>
              <a:rPr lang="en-US" sz="1400" dirty="0">
                <a:latin typeface="Arial Black" panose="020B0A04020102020204" pitchFamily="34" charset="0"/>
              </a:rPr>
              <a:t> for sensitive decision-making.</a:t>
            </a:r>
          </a:p>
          <a:p>
            <a:pPr marL="114300" indent="0" algn="just">
              <a:buNone/>
            </a:pPr>
            <a:r>
              <a:rPr lang="en-US" sz="1400" b="1" dirty="0">
                <a:latin typeface="Arial Black" panose="020B0A04020102020204" pitchFamily="34" charset="0"/>
              </a:rPr>
              <a:t>Learns from human corrections</a:t>
            </a:r>
            <a:r>
              <a:rPr lang="en-US" sz="1400" dirty="0">
                <a:latin typeface="Arial Black" panose="020B0A04020102020204" pitchFamily="34" charset="0"/>
              </a:rPr>
              <a:t> to improve future recommendations (active learning).</a:t>
            </a:r>
          </a:p>
          <a:p>
            <a:pPr marL="114300" indent="0" algn="just">
              <a:buNone/>
            </a:pPr>
            <a:endParaRPr lang="en-US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907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3113A012-6C65-9A34-FE40-FCBF0A00A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FAE5CFC8-FF0E-5432-903C-AB90076079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206734"/>
            <a:ext cx="8368200" cy="4691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Role of Agentic AI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4" name="Google Shape;82;p16">
            <a:extLst>
              <a:ext uri="{FF2B5EF4-FFF2-40B4-BE49-F238E27FC236}">
                <a16:creationId xmlns:a16="http://schemas.microsoft.com/office/drawing/2014/main" id="{463C7CA4-86AF-3993-92F0-796418C3FC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899" y="1383528"/>
            <a:ext cx="8628879" cy="4134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just">
              <a:buNone/>
            </a:pPr>
            <a:r>
              <a:rPr lang="en-IN" sz="1400" dirty="0">
                <a:latin typeface="Arial Black" panose="020B0A040201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Collection Actions &amp; Oversight Classification</a:t>
            </a:r>
          </a:p>
          <a:p>
            <a:pPr marL="114300" indent="0" algn="just">
              <a:buNone/>
            </a:pPr>
            <a:endParaRPr lang="en-US" sz="1400" dirty="0">
              <a:latin typeface="Arial Black" panose="020B0A040201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31C332-9ED5-98F4-3576-CEDDBA4F6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097236"/>
              </p:ext>
            </p:extLst>
          </p:nvPr>
        </p:nvGraphicFramePr>
        <p:xfrm>
          <a:off x="387350" y="1857952"/>
          <a:ext cx="8462451" cy="307881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820817">
                  <a:extLst>
                    <a:ext uri="{9D8B030D-6E8A-4147-A177-3AD203B41FA5}">
                      <a16:colId xmlns:a16="http://schemas.microsoft.com/office/drawing/2014/main" val="381413490"/>
                    </a:ext>
                  </a:extLst>
                </a:gridCol>
                <a:gridCol w="2820817">
                  <a:extLst>
                    <a:ext uri="{9D8B030D-6E8A-4147-A177-3AD203B41FA5}">
                      <a16:colId xmlns:a16="http://schemas.microsoft.com/office/drawing/2014/main" val="2068648848"/>
                    </a:ext>
                  </a:extLst>
                </a:gridCol>
                <a:gridCol w="2820817">
                  <a:extLst>
                    <a:ext uri="{9D8B030D-6E8A-4147-A177-3AD203B41FA5}">
                      <a16:colId xmlns:a16="http://schemas.microsoft.com/office/drawing/2014/main" val="3147823056"/>
                    </a:ext>
                  </a:extLst>
                </a:gridCol>
              </a:tblGrid>
              <a:tr h="349865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Arial Black" panose="020B0A04020102020204" pitchFamily="34" charset="0"/>
                        </a:rPr>
                        <a:t>Collection Action</a:t>
                      </a:r>
                      <a:endParaRPr lang="en-IN" sz="1400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rial Black" panose="020B0A04020102020204" pitchFamily="34" charset="0"/>
                        </a:rPr>
                        <a:t>Automation Level</a:t>
                      </a:r>
                      <a:endParaRPr lang="en-IN" sz="140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rial Black" panose="020B0A04020102020204" pitchFamily="34" charset="0"/>
                        </a:rPr>
                        <a:t>Reason</a:t>
                      </a:r>
                      <a:endParaRPr lang="en-IN" sz="140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5437124"/>
                  </a:ext>
                </a:extLst>
              </a:tr>
              <a:tr h="349865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 Black" panose="020B0A04020102020204" pitchFamily="34" charset="0"/>
                        </a:rPr>
                        <a:t>Send email/SMS reminder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 Black" panose="020B0A04020102020204" pitchFamily="34" charset="0"/>
                        </a:rPr>
                        <a:t>✅ Full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 Black" panose="020B0A04020102020204" pitchFamily="34" charset="0"/>
                        </a:rPr>
                        <a:t>Low risk, scalable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4940384"/>
                  </a:ext>
                </a:extLst>
              </a:tr>
              <a:tr h="594771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 Black" panose="020B0A04020102020204" pitchFamily="34" charset="0"/>
                        </a:rPr>
                        <a:t>Offer standard 3-month payment extension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 Black" panose="020B0A04020102020204" pitchFamily="34" charset="0"/>
                        </a:rPr>
                        <a:t>✅ Full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 Black" panose="020B0A04020102020204" pitchFamily="34" charset="0"/>
                        </a:rPr>
                        <a:t>Pre-approved logic, no judgment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785494"/>
                  </a:ext>
                </a:extLst>
              </a:tr>
              <a:tr h="594771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 Black" panose="020B0A04020102020204" pitchFamily="34" charset="0"/>
                        </a:rPr>
                        <a:t>Initiate call for financial counseling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 Black" panose="020B0A04020102020204" pitchFamily="34" charset="0"/>
                        </a:rPr>
                        <a:t>🔍 Human Oversight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 Black" panose="020B0A04020102020204" pitchFamily="34" charset="0"/>
                        </a:rPr>
                        <a:t>Needs empathy and discretion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6920413"/>
                  </a:ext>
                </a:extLst>
              </a:tr>
              <a:tr h="594771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 Black" panose="020B0A04020102020204" pitchFamily="34" charset="0"/>
                        </a:rPr>
                        <a:t>Approve hardship program based on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 Black" panose="020B0A04020102020204" pitchFamily="34" charset="0"/>
                        </a:rPr>
                        <a:t>🔍 Human Oversight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 Black" panose="020B0A04020102020204" pitchFamily="34" charset="0"/>
                        </a:rPr>
                        <a:t>Requires case-by-case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019093"/>
                  </a:ext>
                </a:extLst>
              </a:tr>
              <a:tr h="594771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 Black" panose="020B0A04020102020204" pitchFamily="34" charset="0"/>
                        </a:rPr>
                        <a:t>Trigger legal recovery workflow (chronic risk)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 Black" panose="020B0A04020102020204" pitchFamily="34" charset="0"/>
                        </a:rPr>
                        <a:t>🔍 Human Oversight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Black" panose="020B0A04020102020204" pitchFamily="34" charset="0"/>
                        </a:rPr>
                        <a:t>Legal compliance, risk of misjudgment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5340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000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2B51CE8F-CFB0-DC1C-D313-17F32D026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E8DED8A2-D018-395A-55DE-9992707A15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206734"/>
            <a:ext cx="8368200" cy="4691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Role of Agentic AI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4" name="Google Shape;82;p16">
            <a:extLst>
              <a:ext uri="{FF2B5EF4-FFF2-40B4-BE49-F238E27FC236}">
                <a16:creationId xmlns:a16="http://schemas.microsoft.com/office/drawing/2014/main" id="{30469613-CDBB-07FB-1310-D950C489F1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899" y="1383528"/>
            <a:ext cx="8628879" cy="1188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1400" dirty="0">
                <a:latin typeface="Arial Black" panose="020B0A04020102020204" pitchFamily="34" charset="0"/>
              </a:rPr>
              <a:t>This blend of </a:t>
            </a:r>
            <a:r>
              <a:rPr lang="en-US" sz="1400" b="1" dirty="0">
                <a:latin typeface="Arial Black" panose="020B0A04020102020204" pitchFamily="34" charset="0"/>
              </a:rPr>
              <a:t>agentic automation + human judgment</a:t>
            </a:r>
            <a:r>
              <a:rPr lang="en-US" sz="1400" dirty="0">
                <a:latin typeface="Arial Black" panose="020B0A04020102020204" pitchFamily="34" charset="0"/>
              </a:rPr>
              <a:t> ensures:</a:t>
            </a:r>
          </a:p>
          <a:p>
            <a:pPr algn="just"/>
            <a:r>
              <a:rPr lang="en-US" sz="1400" dirty="0">
                <a:latin typeface="Arial Black" panose="020B0A04020102020204" pitchFamily="34" charset="0"/>
              </a:rPr>
              <a:t>📈 </a:t>
            </a:r>
            <a:r>
              <a:rPr lang="en-US" sz="1400" b="1" dirty="0">
                <a:latin typeface="Arial Black" panose="020B0A04020102020204" pitchFamily="34" charset="0"/>
              </a:rPr>
              <a:t>Scalability</a:t>
            </a:r>
            <a:endParaRPr lang="en-US" sz="1400" dirty="0">
              <a:latin typeface="Arial Black" panose="020B0A04020102020204" pitchFamily="34" charset="0"/>
            </a:endParaRPr>
          </a:p>
          <a:p>
            <a:pPr algn="just"/>
            <a:r>
              <a:rPr lang="en-US" sz="1400" dirty="0">
                <a:latin typeface="Arial Black" panose="020B0A04020102020204" pitchFamily="34" charset="0"/>
              </a:rPr>
              <a:t>🛡 </a:t>
            </a:r>
            <a:r>
              <a:rPr lang="en-US" sz="1400" b="1" dirty="0">
                <a:latin typeface="Arial Black" panose="020B0A04020102020204" pitchFamily="34" charset="0"/>
              </a:rPr>
              <a:t>Compliance</a:t>
            </a:r>
            <a:endParaRPr lang="en-US" sz="1400" dirty="0">
              <a:latin typeface="Arial Black" panose="020B0A04020102020204" pitchFamily="34" charset="0"/>
            </a:endParaRPr>
          </a:p>
          <a:p>
            <a:pPr algn="just"/>
            <a:r>
              <a:rPr lang="en-US" sz="1400" dirty="0">
                <a:latin typeface="Arial Black" panose="020B0A04020102020204" pitchFamily="34" charset="0"/>
              </a:rPr>
              <a:t>❤️ </a:t>
            </a:r>
            <a:r>
              <a:rPr lang="en-US" sz="1400" b="1" dirty="0">
                <a:latin typeface="Arial Black" panose="020B0A04020102020204" pitchFamily="34" charset="0"/>
              </a:rPr>
              <a:t>Empathy for vulnerable customers</a:t>
            </a:r>
            <a:endParaRPr lang="en-US" sz="1400" dirty="0">
              <a:latin typeface="Arial Black" panose="020B0A04020102020204" pitchFamily="34" charset="0"/>
            </a:endParaRPr>
          </a:p>
          <a:p>
            <a:pPr marL="114300" indent="0" algn="just">
              <a:buNone/>
            </a:pPr>
            <a:endParaRPr lang="en-US" sz="1400" dirty="0">
              <a:latin typeface="Arial Black" panose="020B0A040201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487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127221"/>
            <a:ext cx="8368200" cy="6042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Responsible AI Guardrails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561385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1400" b="1" dirty="0">
                <a:latin typeface="Arial Black" panose="020B0A04020102020204" pitchFamily="34" charset="0"/>
              </a:rPr>
              <a:t>Responsible AI Practices to Be Built In</a:t>
            </a:r>
          </a:p>
          <a:p>
            <a:pPr algn="just"/>
            <a:r>
              <a:rPr lang="en-US" sz="1400" b="1" dirty="0">
                <a:latin typeface="Arial Black" panose="020B0A04020102020204" pitchFamily="34" charset="0"/>
              </a:rPr>
              <a:t>📊 Fairness Audits by Customer Group</a:t>
            </a:r>
            <a:endParaRPr lang="en-US" sz="1400" dirty="0">
              <a:latin typeface="Arial Black" panose="020B0A04020102020204" pitchFamily="34" charset="0"/>
            </a:endParaRPr>
          </a:p>
          <a:p>
            <a:pPr lvl="1" algn="just"/>
            <a:r>
              <a:rPr lang="en-US" dirty="0">
                <a:latin typeface="Arial Black" panose="020B0A04020102020204" pitchFamily="34" charset="0"/>
              </a:rPr>
              <a:t>Regularly evaluate model performance (F1, Recall, Precision) across demographics (e.g., age, location, employment) to detect potential bias.</a:t>
            </a:r>
          </a:p>
          <a:p>
            <a:pPr lvl="1" algn="just"/>
            <a:r>
              <a:rPr lang="en-US" dirty="0">
                <a:latin typeface="Arial Black" panose="020B0A04020102020204" pitchFamily="34" charset="0"/>
              </a:rPr>
              <a:t>Apply mitigation techniques (reweighting, threshold adjustment) if disparities exceed 10–15%.</a:t>
            </a:r>
          </a:p>
          <a:p>
            <a:pPr algn="just"/>
            <a:r>
              <a:rPr lang="en-US" sz="1400" b="1" dirty="0">
                <a:latin typeface="Arial Black" panose="020B0A04020102020204" pitchFamily="34" charset="0"/>
              </a:rPr>
              <a:t>🔍 Explainability &amp; Transparency</a:t>
            </a:r>
            <a:endParaRPr lang="en-US" sz="1400" dirty="0">
              <a:latin typeface="Arial Black" panose="020B0A04020102020204" pitchFamily="34" charset="0"/>
            </a:endParaRPr>
          </a:p>
          <a:p>
            <a:pPr lvl="1" algn="just"/>
            <a:r>
              <a:rPr lang="en-US" dirty="0">
                <a:latin typeface="Arial Black" panose="020B0A04020102020204" pitchFamily="34" charset="0"/>
              </a:rPr>
              <a:t>Use interpretable models or SHAP values to explain why a customer is classified as high-risk.</a:t>
            </a:r>
          </a:p>
          <a:p>
            <a:pPr lvl="1" algn="just"/>
            <a:r>
              <a:rPr lang="en-US" dirty="0">
                <a:latin typeface="Arial Black" panose="020B0A04020102020204" pitchFamily="34" charset="0"/>
              </a:rPr>
              <a:t>Enable agents and customers to understand the reasoning behind decisions (e.g., “high utilization + missed payments”).</a:t>
            </a:r>
          </a:p>
          <a:p>
            <a:pPr algn="just"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4E4E5A43-6FFF-6EC1-5FD1-8F87CEDCD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>
            <a:extLst>
              <a:ext uri="{FF2B5EF4-FFF2-40B4-BE49-F238E27FC236}">
                <a16:creationId xmlns:a16="http://schemas.microsoft.com/office/drawing/2014/main" id="{15E79EBB-E8A9-A8FC-8F16-DD8198EDFA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127221"/>
            <a:ext cx="8368200" cy="6042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Responsible AI Guardrails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1623F3-BBD1-B8E3-96B2-140DBC9DE4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6311" y="1461093"/>
            <a:ext cx="8311377" cy="3485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📜 Regulatory Compliance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Ensure full alignment with: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ECOA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(Equal Credit Opportunity Act)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GDPR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(General Data Protection Regulation)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Any local data usage and customer rights laws (e.g., India’s DPDP Act).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Avoid using protected or proxy attributes (e.g., gender, race).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👨‍💼 Human Oversight &amp; Escalation Protocols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Keep humans in the loop for hardship programs, high-risk escalations, and customer complaints.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All override decisions and exceptions logged for transparency.</a:t>
            </a:r>
          </a:p>
          <a:p>
            <a:r>
              <a:rPr lang="en-US" sz="1400" b="1" dirty="0">
                <a:latin typeface="Arial Black" panose="020B0A04020102020204" pitchFamily="34" charset="0"/>
              </a:rPr>
              <a:t>Monitoring &amp; Auditing Recommendations</a:t>
            </a:r>
          </a:p>
          <a:p>
            <a:r>
              <a:rPr lang="en-US" sz="1400" dirty="0">
                <a:latin typeface="Arial Black" panose="020B0A04020102020204" pitchFamily="34" charset="0"/>
              </a:rPr>
              <a:t>Monthly dashboard with </a:t>
            </a:r>
            <a:r>
              <a:rPr lang="en-US" sz="1400" b="1" dirty="0">
                <a:latin typeface="Arial Black" panose="020B0A04020102020204" pitchFamily="34" charset="0"/>
              </a:rPr>
              <a:t>bias drift monitoring</a:t>
            </a:r>
            <a:endParaRPr lang="en-US" sz="1400" dirty="0">
              <a:latin typeface="Arial Black" panose="020B0A04020102020204" pitchFamily="34" charset="0"/>
            </a:endParaRPr>
          </a:p>
          <a:p>
            <a:r>
              <a:rPr lang="en-US" sz="1400" dirty="0">
                <a:latin typeface="Arial Black" panose="020B0A04020102020204" pitchFamily="34" charset="0"/>
              </a:rPr>
              <a:t>Quarterly </a:t>
            </a:r>
            <a:r>
              <a:rPr lang="en-US" sz="1400" b="1" dirty="0">
                <a:latin typeface="Arial Black" panose="020B0A04020102020204" pitchFamily="34" charset="0"/>
              </a:rPr>
              <a:t>model retraining</a:t>
            </a:r>
            <a:r>
              <a:rPr lang="en-US" sz="1400" dirty="0">
                <a:latin typeface="Arial Black" panose="020B0A04020102020204" pitchFamily="34" charset="0"/>
              </a:rPr>
              <a:t> based on updated collections outcomes</a:t>
            </a:r>
          </a:p>
          <a:p>
            <a:r>
              <a:rPr lang="en-US" sz="1400" dirty="0">
                <a:latin typeface="Arial Black" panose="020B0A04020102020204" pitchFamily="34" charset="0"/>
              </a:rPr>
              <a:t>Independent </a:t>
            </a:r>
            <a:r>
              <a:rPr lang="en-US" sz="1400" b="1" dirty="0">
                <a:latin typeface="Arial Black" panose="020B0A04020102020204" pitchFamily="34" charset="0"/>
              </a:rPr>
              <a:t>AI audit trail</a:t>
            </a:r>
            <a:r>
              <a:rPr lang="en-US" sz="1400" dirty="0">
                <a:latin typeface="Arial Black" panose="020B0A04020102020204" pitchFamily="34" charset="0"/>
              </a:rPr>
              <a:t> for model decisions and risk scoring</a:t>
            </a:r>
          </a:p>
          <a:p>
            <a:r>
              <a:rPr lang="en-US" sz="1400" b="1" dirty="0">
                <a:latin typeface="Arial Black" panose="020B0A04020102020204" pitchFamily="34" charset="0"/>
              </a:rPr>
              <a:t>Compliance review meetings</a:t>
            </a:r>
            <a:r>
              <a:rPr lang="en-US" sz="1400" dirty="0">
                <a:latin typeface="Arial Black" panose="020B0A04020102020204" pitchFamily="34" charset="0"/>
              </a:rPr>
              <a:t> with legal and business stakeholders</a:t>
            </a:r>
          </a:p>
        </p:txBody>
      </p:sp>
    </p:spTree>
    <p:extLst>
      <p:ext uri="{BB962C8B-B14F-4D97-AF65-F5344CB8AC3E}">
        <p14:creationId xmlns:p14="http://schemas.microsoft.com/office/powerpoint/2010/main" val="3875864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127221"/>
            <a:ext cx="8368200" cy="6202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Expected Business Impact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600" dirty="0">
                <a:latin typeface="Arial Black" panose="020B0A04020102020204" pitchFamily="34" charset="0"/>
              </a:rPr>
              <a:t>📈 </a:t>
            </a:r>
            <a:r>
              <a:rPr lang="en-US" sz="1600" b="1" dirty="0">
                <a:latin typeface="Arial Black" panose="020B0A04020102020204" pitchFamily="34" charset="0"/>
              </a:rPr>
              <a:t>Business KPIs: Measuring AI Effectiveness</a:t>
            </a:r>
          </a:p>
          <a:p>
            <a:pPr>
              <a:buNone/>
            </a:pPr>
            <a:endParaRPr lang="en-GB" sz="1600" dirty="0">
              <a:latin typeface="Arial Black" panose="020B0A040201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0C61CB-6B36-197E-C9C0-65BB707B3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010054"/>
              </p:ext>
            </p:extLst>
          </p:nvPr>
        </p:nvGraphicFramePr>
        <p:xfrm>
          <a:off x="387900" y="2135090"/>
          <a:ext cx="7137718" cy="24688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953068">
                  <a:extLst>
                    <a:ext uri="{9D8B030D-6E8A-4147-A177-3AD203B41FA5}">
                      <a16:colId xmlns:a16="http://schemas.microsoft.com/office/drawing/2014/main" val="3216404421"/>
                    </a:ext>
                  </a:extLst>
                </a:gridCol>
                <a:gridCol w="4184650">
                  <a:extLst>
                    <a:ext uri="{9D8B030D-6E8A-4147-A177-3AD203B41FA5}">
                      <a16:colId xmlns:a16="http://schemas.microsoft.com/office/drawing/2014/main" val="36625391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Key Performance Indicator (KPI)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Arial Black" panose="020B0A04020102020204" pitchFamily="34" charset="0"/>
                        </a:rPr>
                        <a:t>Why It Matters</a:t>
                      </a:r>
                      <a:endParaRPr lang="en-IN" dirty="0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187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↓ Delinquency Rate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Indicates effectiveness in early intervention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4397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↑ Repayment Rate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 Black" panose="020B0A04020102020204" pitchFamily="34" charset="0"/>
                        </a:rPr>
                        <a:t>Measures successful customer recovery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471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↓ Collections Cost per Case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Black" panose="020B0A04020102020204" pitchFamily="34" charset="0"/>
                        </a:rPr>
                        <a:t>Automation reduces manual workload and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045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↑ Model Precision &amp; Recall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Black" panose="020B0A04020102020204" pitchFamily="34" charset="0"/>
                        </a:rPr>
                        <a:t>Ensures fewer false positives/negatives in risk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5021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Fairness Gap ≤ 10%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Ensures equity across customer groups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06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D0C557E7-DF36-4E47-4302-2D23C629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>
            <a:extLst>
              <a:ext uri="{FF2B5EF4-FFF2-40B4-BE49-F238E27FC236}">
                <a16:creationId xmlns:a16="http://schemas.microsoft.com/office/drawing/2014/main" id="{5A1139E2-EE28-411E-3B60-5B01B25B9B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127221"/>
            <a:ext cx="8368200" cy="6202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Expected Business Impact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7FCB170C-7608-9E28-3EFF-BF56D5319E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600" dirty="0"/>
              <a:t>💬 </a:t>
            </a:r>
            <a:r>
              <a:rPr lang="en-US" sz="1600" b="1" dirty="0"/>
              <a:t>Customer Outcomes: Building Trust and Experience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GB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6C4152-D7CF-A0E3-B727-4638493EC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649320"/>
              </p:ext>
            </p:extLst>
          </p:nvPr>
        </p:nvGraphicFramePr>
        <p:xfrm>
          <a:off x="387350" y="2086719"/>
          <a:ext cx="8369300" cy="23774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184650">
                  <a:extLst>
                    <a:ext uri="{9D8B030D-6E8A-4147-A177-3AD203B41FA5}">
                      <a16:colId xmlns:a16="http://schemas.microsoft.com/office/drawing/2014/main" val="629027095"/>
                    </a:ext>
                  </a:extLst>
                </a:gridCol>
                <a:gridCol w="4184650">
                  <a:extLst>
                    <a:ext uri="{9D8B030D-6E8A-4147-A177-3AD203B41FA5}">
                      <a16:colId xmlns:a16="http://schemas.microsoft.com/office/drawing/2014/main" val="1689307407"/>
                    </a:ext>
                  </a:extLst>
                </a:gridCol>
              </a:tblGrid>
              <a:tr h="281800">
                <a:tc>
                  <a:txBody>
                    <a:bodyPr/>
                    <a:lstStyle/>
                    <a:p>
                      <a:r>
                        <a:rPr lang="en-IN" b="1"/>
                        <a:t>Outcome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Benefit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199150"/>
                  </a:ext>
                </a:extLst>
              </a:tr>
              <a:tr h="479060">
                <a:tc>
                  <a:txBody>
                    <a:bodyPr/>
                    <a:lstStyle/>
                    <a:p>
                      <a:r>
                        <a:rPr lang="en-IN" b="1"/>
                        <a:t>Improved Fairness &amp; Transparency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Customers feel decisions are justified and consistent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9037478"/>
                  </a:ext>
                </a:extLst>
              </a:tr>
              <a:tr h="479060">
                <a:tc>
                  <a:txBody>
                    <a:bodyPr/>
                    <a:lstStyle/>
                    <a:p>
                      <a:r>
                        <a:rPr lang="en-US" b="1"/>
                        <a:t>Proactive Support for At-Risk Customers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Offers help (e.g., payment plans) before problems escalate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5315817"/>
                  </a:ext>
                </a:extLst>
              </a:tr>
              <a:tr h="479060">
                <a:tc>
                  <a:txBody>
                    <a:bodyPr/>
                    <a:lstStyle/>
                    <a:p>
                      <a:r>
                        <a:rPr lang="en-IN" b="1"/>
                        <a:t>Faster, Personalized Communication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Reduces frustration with automated reminders &amp; guidance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592810"/>
                  </a:ext>
                </a:extLst>
              </a:tr>
              <a:tr h="479060">
                <a:tc>
                  <a:txBody>
                    <a:bodyPr/>
                    <a:lstStyle/>
                    <a:p>
                      <a:r>
                        <a:rPr lang="en-IN" b="1"/>
                        <a:t>Greater Trust in Geldium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Builds long-term customer loyalty through ethical AI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714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68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C8486B17-5EA0-FE99-5171-537436905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>
            <a:extLst>
              <a:ext uri="{FF2B5EF4-FFF2-40B4-BE49-F238E27FC236}">
                <a16:creationId xmlns:a16="http://schemas.microsoft.com/office/drawing/2014/main" id="{93078629-2860-613E-AA1A-C048ACE1CE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900" y="127221"/>
            <a:ext cx="8368200" cy="6202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Arial Black" panose="020B0A04020102020204" pitchFamily="34" charset="0"/>
              </a:rPr>
              <a:t>Expected Business Impact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95" name="Google Shape;95;p18">
            <a:extLst>
              <a:ext uri="{FF2B5EF4-FFF2-40B4-BE49-F238E27FC236}">
                <a16:creationId xmlns:a16="http://schemas.microsoft.com/office/drawing/2014/main" id="{BAA59BCB-CA77-3AA7-6458-0B2CD3F2DD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latin typeface="Arial Black" panose="020B0A04020102020204" pitchFamily="34" charset="0"/>
              </a:rPr>
              <a:t>🔧 Efficiency + Experience Improvements</a:t>
            </a:r>
          </a:p>
          <a:p>
            <a:r>
              <a:rPr lang="en-US" sz="1400" b="1" dirty="0">
                <a:latin typeface="Arial Black" panose="020B0A04020102020204" pitchFamily="34" charset="0"/>
              </a:rPr>
              <a:t>Automated Low-Risk Handling</a:t>
            </a:r>
            <a:endParaRPr lang="en-US" sz="1400" dirty="0">
              <a:latin typeface="Arial Black" panose="020B0A04020102020204" pitchFamily="34" charset="0"/>
            </a:endParaRPr>
          </a:p>
          <a:p>
            <a:pPr lvl="1"/>
            <a:r>
              <a:rPr lang="en-US" dirty="0">
                <a:latin typeface="Arial Black" panose="020B0A04020102020204" pitchFamily="34" charset="0"/>
              </a:rPr>
              <a:t>Offloads repetitive tasks like reminders, reducing FTE workload</a:t>
            </a:r>
          </a:p>
          <a:p>
            <a:r>
              <a:rPr lang="en-US" sz="1400" b="1" dirty="0">
                <a:latin typeface="Arial Black" panose="020B0A04020102020204" pitchFamily="34" charset="0"/>
              </a:rPr>
              <a:t>Tiered Collections Flow</a:t>
            </a:r>
            <a:endParaRPr lang="en-US" sz="1400" dirty="0">
              <a:latin typeface="Arial Black" panose="020B0A04020102020204" pitchFamily="34" charset="0"/>
            </a:endParaRPr>
          </a:p>
          <a:p>
            <a:pPr lvl="1"/>
            <a:r>
              <a:rPr lang="en-US" dirty="0">
                <a:latin typeface="Arial Black" panose="020B0A04020102020204" pitchFamily="34" charset="0"/>
              </a:rPr>
              <a:t>Routes high-risk cases directly to agents; improves response time and outcomes</a:t>
            </a:r>
          </a:p>
          <a:p>
            <a:r>
              <a:rPr lang="en-US" sz="1400" b="1" dirty="0">
                <a:latin typeface="Arial Black" panose="020B0A04020102020204" pitchFamily="34" charset="0"/>
              </a:rPr>
              <a:t>AI-Personalized Messaging</a:t>
            </a:r>
            <a:endParaRPr lang="en-US" sz="1400" dirty="0">
              <a:latin typeface="Arial Black" panose="020B0A04020102020204" pitchFamily="34" charset="0"/>
            </a:endParaRPr>
          </a:p>
          <a:p>
            <a:pPr lvl="1"/>
            <a:r>
              <a:rPr lang="en-US" dirty="0">
                <a:latin typeface="Arial Black" panose="020B0A04020102020204" pitchFamily="34" charset="0"/>
              </a:rPr>
              <a:t>Tailors tone and offers based on customer profile, improving engagement and repayment likelihood</a:t>
            </a:r>
          </a:p>
        </p:txBody>
      </p:sp>
    </p:spTree>
    <p:extLst>
      <p:ext uri="{BB962C8B-B14F-4D97-AF65-F5344CB8AC3E}">
        <p14:creationId xmlns:p14="http://schemas.microsoft.com/office/powerpoint/2010/main" val="3447464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CCCC88-C499-FD0A-EE63-DBFD4E40BAD6}"/>
              </a:ext>
            </a:extLst>
          </p:cNvPr>
          <p:cNvSpPr txBox="1"/>
          <p:nvPr/>
        </p:nvSpPr>
        <p:spPr>
          <a:xfrm>
            <a:off x="2071315" y="1558456"/>
            <a:ext cx="5001370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solidFill>
                  <a:schemeClr val="tx1"/>
                </a:solidFill>
                <a:latin typeface="Arial Black" panose="020B0A04020102020204" pitchFamily="34" charset="0"/>
              </a:rPr>
              <a:t>Final Recommendation</a:t>
            </a:r>
            <a:endParaRPr lang="en-US" sz="2800" b="1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just"/>
            <a:endParaRPr lang="en-US" b="1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Deploy pilot AI collections system</a:t>
            </a:r>
            <a:endParaRPr lang="en-US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Keep humans in loop for critical actions</a:t>
            </a:r>
            <a:endParaRPr lang="en-US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Track results → scale gradually</a:t>
            </a:r>
            <a:endParaRPr lang="en-US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Focus: Efficiency, fairness, customer trust</a:t>
            </a:r>
          </a:p>
        </p:txBody>
      </p:sp>
    </p:spTree>
    <p:extLst>
      <p:ext uri="{BB962C8B-B14F-4D97-AF65-F5344CB8AC3E}">
        <p14:creationId xmlns:p14="http://schemas.microsoft.com/office/powerpoint/2010/main" val="42359785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2084</Words>
  <Application>Microsoft Office PowerPoint</Application>
  <PresentationFormat>On-screen Show (16:9)</PresentationFormat>
  <Paragraphs>235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Roboto Slab</vt:lpstr>
      <vt:lpstr>Roboto</vt:lpstr>
      <vt:lpstr>Arial Black</vt:lpstr>
      <vt:lpstr>Arial</vt:lpstr>
      <vt:lpstr>Marina</vt:lpstr>
      <vt:lpstr>AI-Powered Collections Strategy</vt:lpstr>
      <vt:lpstr>How the System Works</vt:lpstr>
      <vt:lpstr>How the System Works</vt:lpstr>
      <vt:lpstr>How the System Works</vt:lpstr>
      <vt:lpstr>How the System Works</vt:lpstr>
      <vt:lpstr>How the System Works</vt:lpstr>
      <vt:lpstr>How the System Works</vt:lpstr>
      <vt:lpstr>Role of Agentic AI</vt:lpstr>
      <vt:lpstr>Role of Agentic AI</vt:lpstr>
      <vt:lpstr>Role of Agentic AI</vt:lpstr>
      <vt:lpstr>Role of Agentic AI</vt:lpstr>
      <vt:lpstr>Responsible AI Guardrails</vt:lpstr>
      <vt:lpstr>Responsible AI Guardrails</vt:lpstr>
      <vt:lpstr>Expected Business Impact</vt:lpstr>
      <vt:lpstr>Expected Business Impact</vt:lpstr>
      <vt:lpstr>Expected Business Impact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Aarya D.</cp:lastModifiedBy>
  <cp:revision>5</cp:revision>
  <dcterms:modified xsi:type="dcterms:W3CDTF">2025-06-11T16:27:31Z</dcterms:modified>
</cp:coreProperties>
</file>